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83664" autoAdjust="0"/>
  </p:normalViewPr>
  <p:slideViewPr>
    <p:cSldViewPr snapToGrid="0">
      <p:cViewPr varScale="1">
        <p:scale>
          <a:sx n="80" d="100"/>
          <a:sy n="80" d="100"/>
        </p:scale>
        <p:origin x="734" y="48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10:15:13.0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1392 0 24245,'-1392'0'0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10:15:18.6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107 0 22267,'0'2965'0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10:15:24.4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21389,'1450'0'0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10:15:36.5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144 6 24575,'-3'0'0,"-3"0"0,-3 0 0,-3 0 0,-2 0 0,0 0 0,-2 0 0,0 0 0,1 0 0,-1 0 0,3-2 0,4-1-8191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10:15:40.0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1 24176,'0'1165'0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6T10:15:46.2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 24575,'223'0'0,"-218"0"0,-3 0 0,0 0 0,0 0 0,0 0 0,0 0 0,0 0 0,0 0 0,0 0 0,0-1 0,0 1 0,0-1 0,0 0 0,0 1 0,0-1 0,3-2 0,-5 3-37,0-1 0,1 1 1,-1 0-1,0-1 0,0 1 0,0-1 0,0 1 0,0 0 0,0-1 0,-1 1 0,1-1 0,0 1 1,0 0-1,0-1 0,0 1 0,0 0 0,0-1 0,-1 1 0,1-1 0,0 1 0,0 0 0,-1 0 1,1-1-1,0 1 0,0 0 0,-1-1 0,1 1 0,0 0 0,-1 0 0,1 0 0,0-1 0,-1 1 1,1 0-1,-1 0 0,1 0 0,-1 0 0,-10-6-6789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B8A02-1B8F-4CA0-82C6-CD71F4E181AC}" type="datetimeFigureOut">
              <a:rPr lang="nb-NO" smtClean="0"/>
              <a:t>02.10.2025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6D7F6F-FEAF-4EC3-9D16-742F1314A19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4088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6D7F6F-FEAF-4EC3-9D16-742F1314A19E}" type="slidenum">
              <a:rPr lang="nb-NO" smtClean="0"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15378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 err="1"/>
              <a:t>We</a:t>
            </a:r>
            <a:r>
              <a:rPr lang="nb-NO" dirty="0"/>
              <a:t> </a:t>
            </a:r>
            <a:r>
              <a:rPr lang="nb-NO" dirty="0" err="1"/>
              <a:t>knew</a:t>
            </a:r>
            <a:r>
              <a:rPr lang="nb-NO" dirty="0"/>
              <a:t> from </a:t>
            </a:r>
            <a:r>
              <a:rPr lang="nb-NO" dirty="0" err="1"/>
              <a:t>the</a:t>
            </a:r>
            <a:r>
              <a:rPr lang="nb-NO" dirty="0"/>
              <a:t> start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we</a:t>
            </a:r>
            <a:r>
              <a:rPr lang="nb-NO" dirty="0"/>
              <a:t> </a:t>
            </a:r>
            <a:r>
              <a:rPr lang="nb-NO" dirty="0" err="1"/>
              <a:t>didn’t</a:t>
            </a:r>
            <a:r>
              <a:rPr lang="nb-NO" dirty="0"/>
              <a:t> </a:t>
            </a:r>
            <a:r>
              <a:rPr lang="nb-NO" dirty="0" err="1"/>
              <a:t>want</a:t>
            </a:r>
            <a:r>
              <a:rPr lang="nb-NO" dirty="0"/>
              <a:t> to </a:t>
            </a:r>
            <a:r>
              <a:rPr lang="nb-NO" dirty="0" err="1"/>
              <a:t>use</a:t>
            </a:r>
            <a:r>
              <a:rPr lang="nb-NO" dirty="0"/>
              <a:t> </a:t>
            </a:r>
            <a:r>
              <a:rPr lang="nb-NO" dirty="0" err="1"/>
              <a:t>too</a:t>
            </a:r>
            <a:r>
              <a:rPr lang="nb-NO" dirty="0"/>
              <a:t> </a:t>
            </a:r>
            <a:r>
              <a:rPr lang="nb-NO" dirty="0" err="1"/>
              <a:t>much</a:t>
            </a:r>
            <a:r>
              <a:rPr lang="nb-NO" dirty="0"/>
              <a:t> time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choosing</a:t>
            </a:r>
            <a:r>
              <a:rPr lang="nb-NO" dirty="0"/>
              <a:t> an </a:t>
            </a:r>
            <a:r>
              <a:rPr lang="nb-NO" dirty="0" err="1"/>
              <a:t>algorithm</a:t>
            </a:r>
            <a:r>
              <a:rPr lang="nb-NO" dirty="0"/>
              <a:t>, </a:t>
            </a:r>
            <a:r>
              <a:rPr lang="nb-NO" dirty="0" err="1"/>
              <a:t>but</a:t>
            </a:r>
            <a:r>
              <a:rPr lang="nb-NO" dirty="0"/>
              <a:t> </a:t>
            </a:r>
            <a:r>
              <a:rPr lang="nb-NO" dirty="0" err="1"/>
              <a:t>rather</a:t>
            </a:r>
            <a:r>
              <a:rPr lang="nb-NO" dirty="0"/>
              <a:t> </a:t>
            </a:r>
            <a:r>
              <a:rPr lang="nb-NO" dirty="0" err="1"/>
              <a:t>use</a:t>
            </a:r>
            <a:r>
              <a:rPr lang="nb-NO" dirty="0"/>
              <a:t> more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our</a:t>
            </a:r>
            <a:r>
              <a:rPr lang="nb-NO" dirty="0"/>
              <a:t> time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implementation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it. </a:t>
            </a:r>
          </a:p>
          <a:p>
            <a:r>
              <a:rPr lang="nb-NO" dirty="0" err="1"/>
              <a:t>When</a:t>
            </a:r>
            <a:r>
              <a:rPr lang="nb-NO" dirty="0"/>
              <a:t> </a:t>
            </a:r>
            <a:r>
              <a:rPr lang="nb-NO" dirty="0" err="1"/>
              <a:t>looking</a:t>
            </a:r>
            <a:r>
              <a:rPr lang="nb-NO" dirty="0"/>
              <a:t> at </a:t>
            </a:r>
            <a:r>
              <a:rPr lang="nb-NO" dirty="0" err="1"/>
              <a:t>our</a:t>
            </a:r>
            <a:r>
              <a:rPr lang="nb-NO" dirty="0"/>
              <a:t> </a:t>
            </a:r>
            <a:r>
              <a:rPr lang="nb-NO" dirty="0" err="1"/>
              <a:t>two</a:t>
            </a:r>
            <a:r>
              <a:rPr lang="nb-NO" dirty="0"/>
              <a:t> </a:t>
            </a:r>
            <a:r>
              <a:rPr lang="nb-NO" dirty="0" err="1"/>
              <a:t>options</a:t>
            </a:r>
            <a:r>
              <a:rPr lang="nb-NO" dirty="0"/>
              <a:t> for </a:t>
            </a:r>
            <a:r>
              <a:rPr lang="nb-NO" dirty="0" err="1"/>
              <a:t>the</a:t>
            </a:r>
            <a:r>
              <a:rPr lang="nb-NO" dirty="0"/>
              <a:t> RSA </a:t>
            </a:r>
            <a:r>
              <a:rPr lang="nb-NO" dirty="0" err="1"/>
              <a:t>algorithm</a:t>
            </a:r>
            <a:r>
              <a:rPr lang="nb-NO" dirty="0"/>
              <a:t> </a:t>
            </a:r>
            <a:r>
              <a:rPr lang="nb-NO" dirty="0" err="1"/>
              <a:t>we</a:t>
            </a:r>
            <a:r>
              <a:rPr lang="nb-NO" dirty="0"/>
              <a:t> </a:t>
            </a:r>
            <a:r>
              <a:rPr lang="nb-NO" dirty="0" err="1"/>
              <a:t>chose</a:t>
            </a:r>
            <a:r>
              <a:rPr lang="nb-NO" dirty="0"/>
              <a:t> to </a:t>
            </a:r>
            <a:r>
              <a:rPr lang="nb-NO" dirty="0" err="1"/>
              <a:t>go</a:t>
            </a:r>
            <a:r>
              <a:rPr lang="nb-NO" dirty="0"/>
              <a:t> for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method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we</a:t>
            </a:r>
            <a:r>
              <a:rPr lang="nb-NO" dirty="0"/>
              <a:t> </a:t>
            </a:r>
            <a:r>
              <a:rPr lang="nb-NO" dirty="0" err="1"/>
              <a:t>found</a:t>
            </a:r>
            <a:r>
              <a:rPr lang="nb-NO" dirty="0"/>
              <a:t> more intuitive. At first </a:t>
            </a:r>
            <a:r>
              <a:rPr lang="nb-NO" dirty="0" err="1"/>
              <a:t>glance</a:t>
            </a:r>
            <a:r>
              <a:rPr lang="nb-NO" dirty="0"/>
              <a:t> </a:t>
            </a:r>
            <a:r>
              <a:rPr lang="nb-NO" dirty="0" err="1"/>
              <a:t>we</a:t>
            </a:r>
            <a:r>
              <a:rPr lang="nb-NO" dirty="0"/>
              <a:t> </a:t>
            </a:r>
            <a:r>
              <a:rPr lang="nb-NO" dirty="0" err="1"/>
              <a:t>thought</a:t>
            </a:r>
            <a:r>
              <a:rPr lang="nb-NO" dirty="0"/>
              <a:t> </a:t>
            </a:r>
            <a:r>
              <a:rPr lang="nb-NO" dirty="0" err="1"/>
              <a:t>Blaylkley’s</a:t>
            </a:r>
            <a:r>
              <a:rPr lang="nb-NO" dirty="0"/>
              <a:t> </a:t>
            </a:r>
            <a:r>
              <a:rPr lang="nb-NO" dirty="0" err="1"/>
              <a:t>method</a:t>
            </a:r>
            <a:r>
              <a:rPr lang="nb-NO" dirty="0"/>
              <a:t> </a:t>
            </a:r>
            <a:r>
              <a:rPr lang="nb-NO" dirty="0" err="1"/>
              <a:t>looked</a:t>
            </a:r>
            <a:r>
              <a:rPr lang="nb-NO" dirty="0"/>
              <a:t> more intuitive and </a:t>
            </a:r>
            <a:r>
              <a:rPr lang="nb-NO" dirty="0" err="1"/>
              <a:t>that’s</a:t>
            </a:r>
            <a:r>
              <a:rPr lang="nb-NO" dirty="0"/>
              <a:t> </a:t>
            </a:r>
            <a:r>
              <a:rPr lang="nb-NO" dirty="0" err="1"/>
              <a:t>why</a:t>
            </a:r>
            <a:r>
              <a:rPr lang="nb-NO" dirty="0"/>
              <a:t> </a:t>
            </a:r>
            <a:r>
              <a:rPr lang="nb-NO" dirty="0" err="1"/>
              <a:t>we</a:t>
            </a:r>
            <a:r>
              <a:rPr lang="nb-NO" dirty="0"/>
              <a:t> </a:t>
            </a:r>
            <a:r>
              <a:rPr lang="nb-NO" dirty="0" err="1"/>
              <a:t>went</a:t>
            </a:r>
            <a:r>
              <a:rPr lang="nb-NO" dirty="0"/>
              <a:t> for it. 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6D7F6F-FEAF-4EC3-9D16-742F1314A19E}" type="slidenum">
              <a:rPr lang="nb-NO" smtClean="0"/>
              <a:t>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95138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6D7F6F-FEAF-4EC3-9D16-742F1314A19E}" type="slidenum">
              <a:rPr lang="nb-NO" smtClean="0"/>
              <a:t>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31720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FD7F008-B062-40AF-F2A3-FFF87FF292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78F06C0D-E138-BC0F-5A1E-273CC21D76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E38DEED-2BCF-DB34-5AEB-162408D74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50C0E-87F3-42F7-9C88-607322746BDD}" type="datetimeFigureOut">
              <a:rPr lang="nb-NO" smtClean="0"/>
              <a:t>02.10.2025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2DD6F4A4-8328-87F8-1A0B-0B4332747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8B34BA2C-5F8C-C4E2-19A8-EFA08AC32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72E50-F424-4076-8EA3-E4C9DA432A0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32914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DBDB6A1-244F-A3B4-2B35-35E3ED92A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ED7B7C3E-FA75-591A-1652-D30909AE7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FD66E592-610E-2941-3939-3A43FAB4E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50C0E-87F3-42F7-9C88-607322746BDD}" type="datetimeFigureOut">
              <a:rPr lang="nb-NO" smtClean="0"/>
              <a:t>02.10.2025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6810B267-70D9-9487-60FF-C74B0C4DE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59FB420D-59E0-664D-8949-D91C2ECF7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72E50-F424-4076-8EA3-E4C9DA432A0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68038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FECB874-E411-1D8A-E75B-D4D6B0F7E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9AD4F979-1407-B394-B645-D2627BAD9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3DE8A62D-355D-D590-043B-5DA0CE141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50C0E-87F3-42F7-9C88-607322746BDD}" type="datetimeFigureOut">
              <a:rPr lang="nb-NO" smtClean="0"/>
              <a:t>02.10.2025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FD46B3B6-2B67-5214-4A3D-442241BD4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E4B904B6-183F-7CCB-38E0-90224E005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72E50-F424-4076-8EA3-E4C9DA432A0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35644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BA6FB1F-4F85-F668-36D3-732612FDD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ED4C314-66B6-088F-59E5-6C6942B719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93961283-256E-B036-2480-E24840762D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4B0760C3-BAE1-8F55-6B48-22C710380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50C0E-87F3-42F7-9C88-607322746BDD}" type="datetimeFigureOut">
              <a:rPr lang="nb-NO" smtClean="0"/>
              <a:t>02.10.2025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2B02AF37-1705-DEDE-081F-B23615CFD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9C1ECDE5-7498-A77C-3449-231A47D47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72E50-F424-4076-8EA3-E4C9DA432A0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96151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EC2BFF3-4AB9-CF0A-C6A7-2D09C3E6D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91F86150-4FBD-7F0F-8FD9-4E51FC669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DF559423-8374-D20A-ACAF-DB62F4FD1C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27BD3437-4EC3-1FB2-4E7E-C6E5D7079F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EA6C7893-1127-7DF1-ADA0-96EE3D1562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9B58164C-212E-F0CB-95D7-338F0F355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50C0E-87F3-42F7-9C88-607322746BDD}" type="datetimeFigureOut">
              <a:rPr lang="nb-NO" smtClean="0"/>
              <a:t>02.10.2025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3EAAEDFC-2D2A-24A5-F163-274B4B4F2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46B11F3A-AF4B-BD42-0E04-5208224E0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72E50-F424-4076-8EA3-E4C9DA432A0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26640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09D0091-C67C-AE9C-5253-A6D505C20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F7959D88-4E86-1E2D-682F-1B304C226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50C0E-87F3-42F7-9C88-607322746BDD}" type="datetimeFigureOut">
              <a:rPr lang="nb-NO" smtClean="0"/>
              <a:t>02.10.2025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A225B9DE-431A-6CF4-4CE3-4F664B21D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3C8212E3-6583-22FA-F961-CF6EAA2B0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72E50-F424-4076-8EA3-E4C9DA432A0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53843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D274989A-F2D7-CC66-BE2E-13591F9C2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50C0E-87F3-42F7-9C88-607322746BDD}" type="datetimeFigureOut">
              <a:rPr lang="nb-NO" smtClean="0"/>
              <a:t>02.10.2025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99E3F24A-CD4E-0A07-EA7E-80AFF5750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3FA6F400-2B6F-DFD1-A870-9CBC9831B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72E50-F424-4076-8EA3-E4C9DA432A0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84274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F6500E2-9342-1E37-4B63-AF14D36CE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193759B2-6137-4C7E-27AB-1FCB0CF47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BD753963-96A0-A401-453D-77BFB642FE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F1874408-4050-69DE-7A71-F718A524E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50C0E-87F3-42F7-9C88-607322746BDD}" type="datetimeFigureOut">
              <a:rPr lang="nb-NO" smtClean="0"/>
              <a:t>02.10.2025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F680C326-71B6-2E84-2228-0DA100E38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ADF81F16-2759-5FCB-A6B0-93C83ABC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72E50-F424-4076-8EA3-E4C9DA432A0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85305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F6EB748-9218-972E-E309-75D57F493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C5A59448-2CC4-14C6-7814-7A98FC2677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1AD752F8-9001-DF7C-F26F-8205B9DBAE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87E000DB-B26B-5331-E0A0-2F6B553B7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50C0E-87F3-42F7-9C88-607322746BDD}" type="datetimeFigureOut">
              <a:rPr lang="nb-NO" smtClean="0"/>
              <a:t>02.10.2025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3232A815-AEE6-7AA0-97B3-4ABA1D938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E899599F-27B6-8E33-E73C-CEAD433CC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72E50-F424-4076-8EA3-E4C9DA432A0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68329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5FDAB33-7F53-E948-62A9-3B6A67A61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F0724FF4-C77E-D86E-C734-56CD0268BA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0F652CC1-F06D-1212-AEC0-04C24CE18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50C0E-87F3-42F7-9C88-607322746BDD}" type="datetimeFigureOut">
              <a:rPr lang="nb-NO" smtClean="0"/>
              <a:t>02.10.2025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4D74F8A0-3A3A-1A3C-9717-6B162F731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778A4AC0-ABA3-112F-C12A-F0CB4105F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72E50-F424-4076-8EA3-E4C9DA432A0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40942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C17B5692-399E-7251-E131-6C85FD2438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A8631432-4474-2C18-8C29-4BA1637955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E69412A0-9CE7-54CF-BEA5-C04C53188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50C0E-87F3-42F7-9C88-607322746BDD}" type="datetimeFigureOut">
              <a:rPr lang="nb-NO" smtClean="0"/>
              <a:t>02.10.2025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D8AE1547-5229-84F3-1431-33C0E2316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85877704-DDD6-EF89-71F1-82D7DFC3F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72E50-F424-4076-8EA3-E4C9DA432A0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81984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C3BE2960-7530-A45C-C993-8B9D0B126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6E034282-A1FC-2EED-E910-DCF046756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6CD45AFE-BDA5-37D1-F173-0886491EB4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450C0E-87F3-42F7-9C88-607322746BDD}" type="datetimeFigureOut">
              <a:rPr lang="nb-NO" smtClean="0"/>
              <a:t>02.10.2025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4D8144DB-FE21-E98B-5EBB-E3691ED50E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6CB46321-B88F-E9E9-20EC-11BE40F7A9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F72E50-F424-4076-8EA3-E4C9DA432A0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97864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5.xml"/><Relationship Id="rId3" Type="http://schemas.openxmlformats.org/officeDocument/2006/relationships/image" Target="../media/image1.png"/><Relationship Id="rId7" Type="http://schemas.openxmlformats.org/officeDocument/2006/relationships/customXml" Target="../ink/ink2.xml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3.xml"/><Relationship Id="rId1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A646DF4-F532-F8AF-7B16-8E10359801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nb-NO" dirty="0" err="1"/>
              <a:t>Microarchitecture</a:t>
            </a:r>
            <a:r>
              <a:rPr lang="nb-NO" dirty="0"/>
              <a:t> and </a:t>
            </a:r>
            <a:r>
              <a:rPr lang="nb-NO" dirty="0" err="1"/>
              <a:t>performance</a:t>
            </a:r>
            <a:r>
              <a:rPr lang="nb-NO" dirty="0"/>
              <a:t> </a:t>
            </a:r>
            <a:r>
              <a:rPr lang="nb-NO" dirty="0" err="1"/>
              <a:t>estimate</a:t>
            </a:r>
            <a:endParaRPr lang="nb-NO" dirty="0"/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8059072D-C0E2-EFE7-15B5-F65138B1C1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b-NO" dirty="0"/>
          </a:p>
          <a:p>
            <a:r>
              <a:rPr lang="nb-NO" dirty="0"/>
              <a:t>Group 12</a:t>
            </a:r>
          </a:p>
          <a:p>
            <a:r>
              <a:rPr lang="nb-NO" dirty="0">
                <a:solidFill>
                  <a:schemeClr val="bg1">
                    <a:lumMod val="65000"/>
                  </a:schemeClr>
                </a:solidFill>
              </a:rPr>
              <a:t> </a:t>
            </a:r>
            <a:r>
              <a:rPr lang="nb-NO" sz="1600" dirty="0">
                <a:solidFill>
                  <a:schemeClr val="bg1">
                    <a:lumMod val="65000"/>
                  </a:schemeClr>
                </a:solidFill>
              </a:rPr>
              <a:t>Susanne Gripsgård, Ole Jakob Schubert &amp;  Lorang Strand</a:t>
            </a:r>
            <a:endParaRPr lang="nb-NO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2871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E9A0FA2-081D-4A0C-797C-2911E4E94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RSA </a:t>
            </a:r>
            <a:r>
              <a:rPr lang="nb-NO" dirty="0" err="1"/>
              <a:t>algorithm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46B6E64-6A12-6013-342A-6D35F7F16AC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nb-NO" dirty="0" err="1"/>
              <a:t>Blaykley’s</a:t>
            </a:r>
            <a:r>
              <a:rPr lang="nb-NO" dirty="0"/>
              <a:t> </a:t>
            </a:r>
            <a:r>
              <a:rPr lang="nb-NO" dirty="0" err="1"/>
              <a:t>method</a:t>
            </a:r>
            <a:r>
              <a:rPr lang="nb-NO" dirty="0"/>
              <a:t> </a:t>
            </a:r>
          </a:p>
          <a:p>
            <a:r>
              <a:rPr lang="nb-NO" dirty="0" err="1"/>
              <a:t>Why</a:t>
            </a:r>
            <a:r>
              <a:rPr lang="nb-NO" dirty="0"/>
              <a:t>?</a:t>
            </a:r>
          </a:p>
        </p:txBody>
      </p:sp>
      <p:pic>
        <p:nvPicPr>
          <p:cNvPr id="6" name="Bilde 5">
            <a:extLst>
              <a:ext uri="{FF2B5EF4-FFF2-40B4-BE49-F238E27FC236}">
                <a16:creationId xmlns:a16="http://schemas.microsoft.com/office/drawing/2014/main" id="{C1293E70-B41A-3755-A887-3348391AB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5972" y="2002452"/>
            <a:ext cx="3098022" cy="2119395"/>
          </a:xfrm>
          <a:prstGeom prst="rect">
            <a:avLst/>
          </a:prstGeom>
        </p:spPr>
      </p:pic>
      <p:pic>
        <p:nvPicPr>
          <p:cNvPr id="8" name="Bilde 7">
            <a:extLst>
              <a:ext uri="{FF2B5EF4-FFF2-40B4-BE49-F238E27FC236}">
                <a16:creationId xmlns:a16="http://schemas.microsoft.com/office/drawing/2014/main" id="{6D8FE2F2-3FD3-A3A7-6226-11C0BFFDE8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1157" y="4557596"/>
            <a:ext cx="2873830" cy="5150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Håndskrift 9">
                <a:extLst>
                  <a:ext uri="{FF2B5EF4-FFF2-40B4-BE49-F238E27FC236}">
                    <a16:creationId xmlns:a16="http://schemas.microsoft.com/office/drawing/2014/main" id="{458C0456-64C9-BBCB-F13F-8C11CDCA2994}"/>
                  </a:ext>
                </a:extLst>
              </p14:cNvPr>
              <p14:cNvContentPartPr/>
              <p14:nvPr/>
            </p14:nvContentPartPr>
            <p14:xfrm>
              <a:off x="6547629" y="3706423"/>
              <a:ext cx="501120" cy="720"/>
            </p14:xfrm>
          </p:contentPart>
        </mc:Choice>
        <mc:Fallback xmlns="">
          <p:pic>
            <p:nvPicPr>
              <p:cNvPr id="10" name="Håndskrift 9">
                <a:extLst>
                  <a:ext uri="{FF2B5EF4-FFF2-40B4-BE49-F238E27FC236}">
                    <a16:creationId xmlns:a16="http://schemas.microsoft.com/office/drawing/2014/main" id="{458C0456-64C9-BBCB-F13F-8C11CDCA299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41509" y="3694183"/>
                <a:ext cx="51336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Håndskrift 11">
                <a:extLst>
                  <a:ext uri="{FF2B5EF4-FFF2-40B4-BE49-F238E27FC236}">
                    <a16:creationId xmlns:a16="http://schemas.microsoft.com/office/drawing/2014/main" id="{0DF1E228-FE94-486E-96F1-09B1634CFD78}"/>
                  </a:ext>
                </a:extLst>
              </p14:cNvPr>
              <p14:cNvContentPartPr/>
              <p14:nvPr/>
            </p14:nvContentPartPr>
            <p14:xfrm>
              <a:off x="6536924" y="3709080"/>
              <a:ext cx="720" cy="1067760"/>
            </p14:xfrm>
          </p:contentPart>
        </mc:Choice>
        <mc:Fallback xmlns="">
          <p:pic>
            <p:nvPicPr>
              <p:cNvPr id="12" name="Håndskrift 11">
                <a:extLst>
                  <a:ext uri="{FF2B5EF4-FFF2-40B4-BE49-F238E27FC236}">
                    <a16:creationId xmlns:a16="http://schemas.microsoft.com/office/drawing/2014/main" id="{0DF1E228-FE94-486E-96F1-09B1634CFD7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24684" y="3702960"/>
                <a:ext cx="25200" cy="10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" name="Håndskrift 13">
                <a:extLst>
                  <a:ext uri="{FF2B5EF4-FFF2-40B4-BE49-F238E27FC236}">
                    <a16:creationId xmlns:a16="http://schemas.microsoft.com/office/drawing/2014/main" id="{E2AD157D-95D5-41AB-7F59-690E7511F27B}"/>
                  </a:ext>
                </a:extLst>
              </p14:cNvPr>
              <p14:cNvContentPartPr/>
              <p14:nvPr/>
            </p14:nvContentPartPr>
            <p14:xfrm>
              <a:off x="6536924" y="4789663"/>
              <a:ext cx="522625" cy="360"/>
            </p14:xfrm>
          </p:contentPart>
        </mc:Choice>
        <mc:Fallback xmlns="">
          <p:pic>
            <p:nvPicPr>
              <p:cNvPr id="14" name="Håndskrift 13">
                <a:extLst>
                  <a:ext uri="{FF2B5EF4-FFF2-40B4-BE49-F238E27FC236}">
                    <a16:creationId xmlns:a16="http://schemas.microsoft.com/office/drawing/2014/main" id="{E2AD157D-95D5-41AB-7F59-690E7511F27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530801" y="4783543"/>
                <a:ext cx="534871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7" name="Håndskrift 16">
                <a:extLst>
                  <a:ext uri="{FF2B5EF4-FFF2-40B4-BE49-F238E27FC236}">
                    <a16:creationId xmlns:a16="http://schemas.microsoft.com/office/drawing/2014/main" id="{F03E2152-CA43-EE02-76F1-A784C92F2F0B}"/>
                  </a:ext>
                </a:extLst>
              </p14:cNvPr>
              <p14:cNvContentPartPr/>
              <p14:nvPr/>
            </p14:nvContentPartPr>
            <p14:xfrm>
              <a:off x="7072869" y="4591303"/>
              <a:ext cx="51840" cy="2520"/>
            </p14:xfrm>
          </p:contentPart>
        </mc:Choice>
        <mc:Fallback xmlns="">
          <p:pic>
            <p:nvPicPr>
              <p:cNvPr id="17" name="Håndskrift 16">
                <a:extLst>
                  <a:ext uri="{FF2B5EF4-FFF2-40B4-BE49-F238E27FC236}">
                    <a16:creationId xmlns:a16="http://schemas.microsoft.com/office/drawing/2014/main" id="{F03E2152-CA43-EE02-76F1-A784C92F2F0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066749" y="4585183"/>
                <a:ext cx="64080" cy="1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9" name="Håndskrift 18">
                <a:extLst>
                  <a:ext uri="{FF2B5EF4-FFF2-40B4-BE49-F238E27FC236}">
                    <a16:creationId xmlns:a16="http://schemas.microsoft.com/office/drawing/2014/main" id="{BC42F257-2FFA-95EC-3C22-C07561927C6F}"/>
                  </a:ext>
                </a:extLst>
              </p14:cNvPr>
              <p14:cNvContentPartPr/>
              <p14:nvPr/>
            </p14:nvContentPartPr>
            <p14:xfrm>
              <a:off x="7064589" y="4598863"/>
              <a:ext cx="720" cy="419760"/>
            </p14:xfrm>
          </p:contentPart>
        </mc:Choice>
        <mc:Fallback xmlns="">
          <p:pic>
            <p:nvPicPr>
              <p:cNvPr id="19" name="Håndskrift 18">
                <a:extLst>
                  <a:ext uri="{FF2B5EF4-FFF2-40B4-BE49-F238E27FC236}">
                    <a16:creationId xmlns:a16="http://schemas.microsoft.com/office/drawing/2014/main" id="{BC42F257-2FFA-95EC-3C22-C07561927C6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052349" y="4592743"/>
                <a:ext cx="252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0" name="Håndskrift 19">
                <a:extLst>
                  <a:ext uri="{FF2B5EF4-FFF2-40B4-BE49-F238E27FC236}">
                    <a16:creationId xmlns:a16="http://schemas.microsoft.com/office/drawing/2014/main" id="{1F1CFC87-B052-863D-19CA-ECCF82021AE1}"/>
                  </a:ext>
                </a:extLst>
              </p14:cNvPr>
              <p14:cNvContentPartPr/>
              <p14:nvPr/>
            </p14:nvContentPartPr>
            <p14:xfrm>
              <a:off x="7075389" y="5009983"/>
              <a:ext cx="94320" cy="9000"/>
            </p14:xfrm>
          </p:contentPart>
        </mc:Choice>
        <mc:Fallback xmlns="">
          <p:pic>
            <p:nvPicPr>
              <p:cNvPr id="20" name="Håndskrift 19">
                <a:extLst>
                  <a:ext uri="{FF2B5EF4-FFF2-40B4-BE49-F238E27FC236}">
                    <a16:creationId xmlns:a16="http://schemas.microsoft.com/office/drawing/2014/main" id="{1F1CFC87-B052-863D-19CA-ECCF82021AE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069269" y="5003863"/>
                <a:ext cx="106560" cy="2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2322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BE284DC-61B7-01B3-887A-27D6F11BC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570" y="0"/>
            <a:ext cx="10515600" cy="1325563"/>
          </a:xfrm>
        </p:spPr>
        <p:txBody>
          <a:bodyPr/>
          <a:lstStyle/>
          <a:p>
            <a:r>
              <a:rPr lang="nb-NO" dirty="0" err="1"/>
              <a:t>Microarchitecture</a:t>
            </a:r>
            <a:r>
              <a:rPr lang="nb-NO" dirty="0"/>
              <a:t> – RSA </a:t>
            </a:r>
            <a:r>
              <a:rPr lang="nb-NO" dirty="0" err="1"/>
              <a:t>core</a:t>
            </a:r>
            <a:r>
              <a:rPr lang="nb-NO" dirty="0"/>
              <a:t> </a:t>
            </a:r>
          </a:p>
        </p:txBody>
      </p:sp>
      <p:pic>
        <p:nvPicPr>
          <p:cNvPr id="8" name="Bilde 7" descr="Et bilde som inneholder skjermbilde, tekst, design&#10;&#10;KI-generert innhold kan være feil.">
            <a:extLst>
              <a:ext uri="{FF2B5EF4-FFF2-40B4-BE49-F238E27FC236}">
                <a16:creationId xmlns:a16="http://schemas.microsoft.com/office/drawing/2014/main" id="{4FA51EE2-4A44-08E3-D116-DDBC73BD7B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033" t="21237" b="67772"/>
          <a:stretch>
            <a:fillRect/>
          </a:stretch>
        </p:blipFill>
        <p:spPr>
          <a:xfrm>
            <a:off x="8066312" y="699885"/>
            <a:ext cx="3723844" cy="680293"/>
          </a:xfrm>
          <a:prstGeom prst="rect">
            <a:avLst/>
          </a:prstGeom>
        </p:spPr>
      </p:pic>
      <p:pic>
        <p:nvPicPr>
          <p:cNvPr id="4" name="Bilde 3" descr="Et bilde som inneholder skjermbilde, diagram, design&#10;&#10;KI-generert innhold kan være feil.">
            <a:extLst>
              <a:ext uri="{FF2B5EF4-FFF2-40B4-BE49-F238E27FC236}">
                <a16:creationId xmlns:a16="http://schemas.microsoft.com/office/drawing/2014/main" id="{37D7A7EC-2DE8-EFBE-42EB-EAA518FFB6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43" r="32898"/>
          <a:stretch>
            <a:fillRect/>
          </a:stretch>
        </p:blipFill>
        <p:spPr>
          <a:xfrm>
            <a:off x="157446" y="1040031"/>
            <a:ext cx="8766193" cy="4543259"/>
          </a:xfrm>
          <a:prstGeom prst="rect">
            <a:avLst/>
          </a:prstGeom>
        </p:spPr>
      </p:pic>
      <p:pic>
        <p:nvPicPr>
          <p:cNvPr id="9" name="Bilde 8" descr="Et bilde som inneholder skjermbilde, tekst, design&#10;&#10;KI-generert innhold kan være feil.">
            <a:extLst>
              <a:ext uri="{FF2B5EF4-FFF2-40B4-BE49-F238E27FC236}">
                <a16:creationId xmlns:a16="http://schemas.microsoft.com/office/drawing/2014/main" id="{E558B31E-E145-A4CF-0AA4-E987F5FDF6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850"/>
          <a:stretch>
            <a:fillRect/>
          </a:stretch>
        </p:blipFill>
        <p:spPr>
          <a:xfrm>
            <a:off x="8560354" y="1614695"/>
            <a:ext cx="3229802" cy="4256237"/>
          </a:xfrm>
          <a:prstGeom prst="rect">
            <a:avLst/>
          </a:prstGeom>
        </p:spPr>
      </p:pic>
      <p:pic>
        <p:nvPicPr>
          <p:cNvPr id="11" name="Bilde 10">
            <a:extLst>
              <a:ext uri="{FF2B5EF4-FFF2-40B4-BE49-F238E27FC236}">
                <a16:creationId xmlns:a16="http://schemas.microsoft.com/office/drawing/2014/main" id="{0CE35CF2-804B-4EE6-B407-159EFBBF17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8360" y="5331103"/>
            <a:ext cx="2545279" cy="1292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168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EE7BFAA-7A08-B5CE-7A9B-3DBC2C1E5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420" y="0"/>
            <a:ext cx="10515600" cy="1325563"/>
          </a:xfrm>
        </p:spPr>
        <p:txBody>
          <a:bodyPr/>
          <a:lstStyle/>
          <a:p>
            <a:r>
              <a:rPr lang="nb-NO" dirty="0" err="1"/>
              <a:t>Microarchitecture</a:t>
            </a:r>
            <a:r>
              <a:rPr lang="nb-NO" dirty="0"/>
              <a:t> - mult </a:t>
            </a:r>
            <a:r>
              <a:rPr lang="nb-NO" dirty="0" err="1"/>
              <a:t>with</a:t>
            </a:r>
            <a:r>
              <a:rPr lang="nb-NO" dirty="0"/>
              <a:t> mod</a:t>
            </a:r>
          </a:p>
        </p:txBody>
      </p:sp>
      <p:pic>
        <p:nvPicPr>
          <p:cNvPr id="4" name="Bilde 3" descr="Et bilde som inneholder skjermbilde, design&#10;&#10;KI-generert innhold kan være feil.">
            <a:extLst>
              <a:ext uri="{FF2B5EF4-FFF2-40B4-BE49-F238E27FC236}">
                <a16:creationId xmlns:a16="http://schemas.microsoft.com/office/drawing/2014/main" id="{35257B68-6B0F-A849-BB0F-281712B4EF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86" b="20604"/>
          <a:stretch>
            <a:fillRect/>
          </a:stretch>
        </p:blipFill>
        <p:spPr>
          <a:xfrm>
            <a:off x="8325795" y="360814"/>
            <a:ext cx="3585106" cy="4143201"/>
          </a:xfrm>
          <a:prstGeom prst="rect">
            <a:avLst/>
          </a:prstGeom>
        </p:spPr>
      </p:pic>
      <p:pic>
        <p:nvPicPr>
          <p:cNvPr id="6" name="Bilde 5">
            <a:extLst>
              <a:ext uri="{FF2B5EF4-FFF2-40B4-BE49-F238E27FC236}">
                <a16:creationId xmlns:a16="http://schemas.microsoft.com/office/drawing/2014/main" id="{8F2FC3AD-6116-B478-5AC6-3071AC7D6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3507" y="4637837"/>
            <a:ext cx="2708493" cy="2283631"/>
          </a:xfrm>
          <a:prstGeom prst="rect">
            <a:avLst/>
          </a:prstGeom>
        </p:spPr>
      </p:pic>
      <p:pic>
        <p:nvPicPr>
          <p:cNvPr id="12" name="Picture 1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CE0F1CC-B7DC-36B8-7C57-2DDE6E8209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005"/>
          <a:stretch>
            <a:fillRect/>
          </a:stretch>
        </p:blipFill>
        <p:spPr>
          <a:xfrm>
            <a:off x="5323840" y="1101578"/>
            <a:ext cx="3732518" cy="5280172"/>
          </a:xfrm>
          <a:prstGeom prst="rect">
            <a:avLst/>
          </a:prstGeom>
        </p:spPr>
      </p:pic>
      <p:pic>
        <p:nvPicPr>
          <p:cNvPr id="13" name="Picture 1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5ADB26D-74E0-3210-2399-88410A8CC2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736"/>
          <a:stretch>
            <a:fillRect/>
          </a:stretch>
        </p:blipFill>
        <p:spPr>
          <a:xfrm>
            <a:off x="0" y="1101578"/>
            <a:ext cx="5068442" cy="4309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938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7BCE1B4-E043-69AF-0A7D-BDA86FAEC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Estimated number of clock cycles for executing the encoding/decoding</a:t>
            </a:r>
            <a:endParaRPr lang="nb-N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Plassholder for innhold 3">
                <a:extLst>
                  <a:ext uri="{FF2B5EF4-FFF2-40B4-BE49-F238E27FC236}">
                    <a16:creationId xmlns:a16="http://schemas.microsoft.com/office/drawing/2014/main" id="{DD6E9CFA-7569-8835-E4E0-9A33CE35AF4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955308" y="1917065"/>
                <a:ext cx="7134726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b-NO" b="0" i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nb-NO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 ×</m:t>
                    </m:r>
                    <m:d>
                      <m:dPr>
                        <m:ctrlPr>
                          <a:rPr lang="nb-N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nb-N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+1=65 793 </m:t>
                    </m:r>
                    <m:r>
                      <a:rPr lang="nb-N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𝑐𝑦𝑐𝑙𝑒𝑠</m:t>
                    </m:r>
                  </m:oMath>
                </a14:m>
                <a:endParaRPr lang="nb-NO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nb-NO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=256</m:t>
                    </m:r>
                  </m:oMath>
                </a14:m>
                <a:endParaRPr lang="nb-NO" dirty="0"/>
              </a:p>
            </p:txBody>
          </p:sp>
        </mc:Choice>
        <mc:Fallback xmlns="">
          <p:sp>
            <p:nvSpPr>
              <p:cNvPr id="4" name="Plassholder for innhold 3">
                <a:extLst>
                  <a:ext uri="{FF2B5EF4-FFF2-40B4-BE49-F238E27FC236}">
                    <a16:creationId xmlns:a16="http://schemas.microsoft.com/office/drawing/2014/main" id="{DD6E9CFA-7569-8835-E4E0-9A33CE35AF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955308" y="1917065"/>
                <a:ext cx="7134726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0319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130</Words>
  <Application>Microsoft Office PowerPoint</Application>
  <PresentationFormat>Widescreen</PresentationFormat>
  <Paragraphs>17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Office-tema</vt:lpstr>
      <vt:lpstr>Microarchitecture and performance estimate</vt:lpstr>
      <vt:lpstr>RSA algorithm</vt:lpstr>
      <vt:lpstr>Microarchitecture – RSA core </vt:lpstr>
      <vt:lpstr>Microarchitecture - mult with mod</vt:lpstr>
      <vt:lpstr>Estimated number of clock cycles for executing the encoding/decoding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Susanne Gripsgård</dc:creator>
  <cp:lastModifiedBy>Ole Jakob Schubert</cp:lastModifiedBy>
  <cp:revision>8</cp:revision>
  <dcterms:created xsi:type="dcterms:W3CDTF">2025-09-26T08:25:57Z</dcterms:created>
  <dcterms:modified xsi:type="dcterms:W3CDTF">2025-10-02T13:21:48Z</dcterms:modified>
</cp:coreProperties>
</file>